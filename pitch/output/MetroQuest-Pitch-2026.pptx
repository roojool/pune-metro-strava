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mq_slide_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mq_slide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MetroQuest working prototype for Pune commuters. Visual palette inspired by the user-supplied images.png reference; no OpenAI affiliation, sponsorship or AI functionality is claimed. Product source: https://github.com/Roojool/pune-metro-strava 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mq_slide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mq_slide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framing is a hypothesis to validate with Pune commuters, not a result from completed interviews or market research. No market-size or ridership statistics are claimed.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mq_slide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mq_slide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Screenshot source: actual updated MetroQuest app, provided by the engineering lead after the UI theme change and one manually logged PCMC → Civil Court journey, 2026-10-24. File: pitch/assets/updated-metroquest-passport.png. No screenshot was synthesized.Implemented demo behavior: manual ride logging, endpoint-only station stamps, shared XP calculations and local community posts/reactions. First new-endpoint ride gives 10 ride XP + 20 for each endpoint = 50. Sources: src/domain/metro.ts, src/state/AppState.tsx in https://github.com/Roojool/pune-metro-strava 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mq_slide_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mq_slide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Screenshot source: actual updated MetroQuest Home, provided by the engineering lead after the UI theme change and one manually logged PCMC → Civil Court journey, 2026-10-24. File: pitch/assets/updated-metroquest-home.png. No screenshot was synthesized.Implementation proof supplied by the engineering lead at pitch creation: 24 tests passing; working hosted web; Android Expo Go demo previously verified; iOS bundle export is not iOS runtime testing. No APK is delivered. Live demo: https://roojool.github.io/pune-metro-strava/ . Prototype uses manual self-reported rides and local state. League identities and community sample profiles are simulations.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mq_slide_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mq_slide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Pilot audiences, measurement focus and monetization are proposals, not existing traction, customers or revenue. No actual pilot partners are claimed. This slide is a launch hypothesis for a Pune campus/office pilot.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mq_slide_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mq_slide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Call to action: try the live working demo and discuss a Pune campus or office pilot. URL: https://roojool.github.io/pune-metro-strava/ . No investment, partner or usage claims are implied.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roojool.github.io/pune-metro-strava/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roojool.github.io/pune-metro-strav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33400" y="914400"/>
            <a:ext cx="76200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200">
                <a:solidFill>
                  <a:srgbClr val="FFFFFF"/>
                </a:solidFill>
              </a:rPr>
              <a:t>MetroQuest</a:t>
            </a:r>
            <a:endParaRPr sz="6200"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71500" y="2019300"/>
            <a:ext cx="7365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00B857"/>
                </a:solidFill>
              </a:rPr>
              <a:t>Strava for Metro</a:t>
            </a:r>
            <a:endParaRPr sz="3300">
              <a:solidFill>
                <a:srgbClr val="00B857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71500" y="2794000"/>
            <a:ext cx="7493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FFFF"/>
                </a:solidFill>
              </a:rPr>
              <a:t>Pune, one station at a time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71500" y="4445000"/>
            <a:ext cx="723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B3B3B3"/>
                </a:solidFill>
              </a:rPr>
              <a:t>Working prototype  /  October 2026</a:t>
            </a:r>
            <a:endParaRPr sz="1300">
              <a:solidFill>
                <a:srgbClr val="B3B3B3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7493000" y="431800"/>
            <a:ext cx="685800" cy="685800"/>
          </a:xfrm>
          <a:prstGeom prst="ellipse">
            <a:avLst/>
          </a:prstGeom>
          <a:solidFill>
            <a:srgbClr val="FFC6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239000" y="3251200"/>
            <a:ext cx="787500" cy="787500"/>
          </a:xfrm>
          <a:prstGeom prst="ellipse">
            <a:avLst/>
          </a:prstGeom>
          <a:solidFill>
            <a:srgbClr val="00B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6210300" y="3632200"/>
            <a:ext cx="622200" cy="622200"/>
          </a:xfrm>
          <a:prstGeom prst="ellipse">
            <a:avLst/>
          </a:prstGeom>
          <a:solidFill>
            <a:srgbClr val="914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8255000" y="4051300"/>
            <a:ext cx="558900" cy="5589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533400" y="533400"/>
            <a:ext cx="8127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rgbClr val="FFFFFF"/>
                </a:solidFill>
              </a:rPr>
              <a:t>The commuter problem</a:t>
            </a:r>
            <a:endParaRPr sz="3500">
              <a:solidFill>
                <a:srgbClr val="FFFFFF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71500" y="1612900"/>
            <a:ext cx="78741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FFC6B0"/>
                </a:solidFill>
              </a:rPr>
              <a:t>The route repeats.</a:t>
            </a:r>
            <a:endParaRPr sz="3400">
              <a:solidFill>
                <a:srgbClr val="FFC6B0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FFC6B0"/>
                </a:solidFill>
              </a:rPr>
              <a:t>Progress is hard to see.</a:t>
            </a:r>
            <a:endParaRPr sz="3400">
              <a:solidFill>
                <a:srgbClr val="FFC6B0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71500" y="3238500"/>
            <a:ext cx="774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B857"/>
                </a:solidFill>
              </a:rPr>
              <a:t>Our hypothesis to test in Pune</a:t>
            </a:r>
            <a:endParaRPr b="1" sz="1800">
              <a:solidFill>
                <a:srgbClr val="00B857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71500" y="3759200"/>
            <a:ext cx="80010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Visible progress and friendly competition can make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a repeated journey more rewarding.</a:t>
            </a:r>
            <a:endParaRPr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533400" y="508000"/>
            <a:ext cx="8127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rgbClr val="FFFFFF"/>
                </a:solidFill>
              </a:rPr>
              <a:t>The MetroQuest loop</a:t>
            </a:r>
            <a:endParaRPr sz="3500">
              <a:solidFill>
                <a:srgbClr val="FFFFFF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71500" y="1524000"/>
            <a:ext cx="558900" cy="558900"/>
          </a:xfrm>
          <a:prstGeom prst="ellipse">
            <a:avLst/>
          </a:prstGeom>
          <a:solidFill>
            <a:srgbClr val="00B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571500" y="2286000"/>
            <a:ext cx="558900" cy="558900"/>
          </a:xfrm>
          <a:prstGeom prst="ellipse">
            <a:avLst/>
          </a:prstGeom>
          <a:solidFill>
            <a:srgbClr val="914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571500" y="3048000"/>
            <a:ext cx="558900" cy="558900"/>
          </a:xfrm>
          <a:prstGeom prst="ellipse">
            <a:avLst/>
          </a:prstGeom>
          <a:solidFill>
            <a:srgbClr val="FFC6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571500" y="3810000"/>
            <a:ext cx="558900" cy="5589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571500" y="4572000"/>
            <a:ext cx="800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B3B3B3"/>
                </a:solidFill>
              </a:rPr>
              <a:t>Manual logs  /  Local persistence  /  Sample leagues and profiles</a:t>
            </a:r>
            <a:endParaRPr sz="1300">
              <a:solidFill>
                <a:srgbClr val="B3B3B3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71500" y="1524000"/>
            <a:ext cx="5589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/>
              <a:t>01</a:t>
            </a:r>
            <a:endParaRPr b="1" sz="1700"/>
          </a:p>
        </p:txBody>
      </p:sp>
      <p:sp>
        <p:nvSpPr>
          <p:cNvPr id="81" name="Google Shape;81;p15"/>
          <p:cNvSpPr txBox="1"/>
          <p:nvPr/>
        </p:nvSpPr>
        <p:spPr>
          <a:xfrm>
            <a:off x="1333500" y="1447800"/>
            <a:ext cx="3340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FFFFFF"/>
                </a:solidFill>
              </a:rPr>
              <a:t>Log a ride</a:t>
            </a:r>
            <a:endParaRPr b="1" sz="2100">
              <a:solidFill>
                <a:srgbClr val="FFFFFF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333500" y="1803400"/>
            <a:ext cx="3429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B3B3B3"/>
                </a:solidFill>
              </a:rPr>
              <a:t>PCMC → Civil Court</a:t>
            </a:r>
            <a:endParaRPr sz="1500">
              <a:solidFill>
                <a:srgbClr val="B3B3B3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571500" y="2286000"/>
            <a:ext cx="5589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/>
              <a:t>02</a:t>
            </a:r>
            <a:endParaRPr b="1" sz="1700"/>
          </a:p>
        </p:txBody>
      </p:sp>
      <p:sp>
        <p:nvSpPr>
          <p:cNvPr id="84" name="Google Shape;84;p15"/>
          <p:cNvSpPr txBox="1"/>
          <p:nvPr/>
        </p:nvSpPr>
        <p:spPr>
          <a:xfrm>
            <a:off x="1333500" y="2209800"/>
            <a:ext cx="3340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FFFFFF"/>
                </a:solidFill>
              </a:rPr>
              <a:t>Collect stops</a:t>
            </a:r>
            <a:endParaRPr b="1" sz="2100">
              <a:solidFill>
                <a:srgbClr val="FFFFFF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1333500" y="2565400"/>
            <a:ext cx="3429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B3B3B3"/>
                </a:solidFill>
              </a:rPr>
              <a:t>Board and exit station stamps</a:t>
            </a:r>
            <a:endParaRPr sz="1500">
              <a:solidFill>
                <a:srgbClr val="B3B3B3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71500" y="3048000"/>
            <a:ext cx="5589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/>
              <a:t>03</a:t>
            </a:r>
            <a:endParaRPr b="1" sz="1700"/>
          </a:p>
        </p:txBody>
      </p:sp>
      <p:sp>
        <p:nvSpPr>
          <p:cNvPr id="87" name="Google Shape;87;p15"/>
          <p:cNvSpPr txBox="1"/>
          <p:nvPr/>
        </p:nvSpPr>
        <p:spPr>
          <a:xfrm>
            <a:off x="1333500" y="2971800"/>
            <a:ext cx="3340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FFFFFF"/>
                </a:solidFill>
              </a:rPr>
              <a:t>Earn XP</a:t>
            </a:r>
            <a:endParaRPr b="1" sz="2100">
              <a:solidFill>
                <a:srgbClr val="FFFFFF"/>
              </a:solidFill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333500" y="3327400"/>
            <a:ext cx="3429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B3B3B3"/>
                </a:solidFill>
              </a:rPr>
              <a:t>50 XP for the first demo ride</a:t>
            </a:r>
            <a:endParaRPr sz="1500">
              <a:solidFill>
                <a:srgbClr val="B3B3B3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571500" y="3810000"/>
            <a:ext cx="5589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/>
              <a:t>04</a:t>
            </a:r>
            <a:endParaRPr b="1" sz="1700"/>
          </a:p>
        </p:txBody>
      </p:sp>
      <p:sp>
        <p:nvSpPr>
          <p:cNvPr id="90" name="Google Shape;90;p15"/>
          <p:cNvSpPr txBox="1"/>
          <p:nvPr/>
        </p:nvSpPr>
        <p:spPr>
          <a:xfrm>
            <a:off x="1333500" y="3733800"/>
            <a:ext cx="3340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FFFFFF"/>
                </a:solidFill>
              </a:rPr>
              <a:t>Find your line</a:t>
            </a:r>
            <a:endParaRPr b="1" sz="2100">
              <a:solidFill>
                <a:srgbClr val="FFFFFF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333500" y="4089400"/>
            <a:ext cx="3429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B3B3B3"/>
                </a:solidFill>
              </a:rPr>
              <a:t>Local posts and reactions</a:t>
            </a:r>
            <a:endParaRPr sz="1500">
              <a:solidFill>
                <a:srgbClr val="B3B3B3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5016500" y="4178300"/>
            <a:ext cx="3657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9147FF"/>
                </a:solidFill>
              </a:rPr>
              <a:t>Your metro passport</a:t>
            </a:r>
            <a:endParaRPr sz="1800">
              <a:solidFill>
                <a:srgbClr val="9147FF"/>
              </a:solidFill>
            </a:endParaRPr>
          </a:p>
        </p:txBody>
      </p:sp>
      <p:pic>
        <p:nvPicPr>
          <p:cNvPr descr="Actual app after logging PCMC to Civil Court: two collected endpoint stations, one journey,13.4 estimated km,28 estimated minutes. Black/green/purple UI." id="93" name="Google Shape;93;p15" title="Actual updated MetroQuest Passpo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500" y="1587500"/>
            <a:ext cx="3619501" cy="2513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533400" y="508000"/>
            <a:ext cx="81279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rgbClr val="FFFFFF"/>
                </a:solidFill>
              </a:rPr>
              <a:t>A working product, today</a:t>
            </a:r>
            <a:endParaRPr sz="3500">
              <a:solidFill>
                <a:srgbClr val="FFFFFF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71500" y="1447800"/>
            <a:ext cx="29211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B857"/>
                </a:solidFill>
              </a:rPr>
              <a:t>One Expo app</a:t>
            </a:r>
            <a:endParaRPr b="1" sz="2400">
              <a:solidFill>
                <a:srgbClr val="00B857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571500" y="1968500"/>
            <a:ext cx="29844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FF"/>
                </a:solidFill>
              </a:rPr>
              <a:t>Web + Android demo</a:t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71500" y="2603500"/>
            <a:ext cx="2984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9147FF"/>
                </a:solidFill>
              </a:rPr>
              <a:t>24 tests passing</a:t>
            </a:r>
            <a:endParaRPr b="1" sz="2400">
              <a:solidFill>
                <a:srgbClr val="9147FF"/>
              </a:solidFill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571500" y="3327400"/>
            <a:ext cx="2984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B3B3B3"/>
                </a:solidFill>
              </a:rPr>
              <a:t>iOS bundle exports;</a:t>
            </a:r>
            <a:endParaRPr sz="1600">
              <a:solidFill>
                <a:srgbClr val="B3B3B3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B3B3B3"/>
                </a:solidFill>
              </a:rPr>
              <a:t>iOS runtime not tested.</a:t>
            </a:r>
            <a:endParaRPr sz="1600">
              <a:solidFill>
                <a:srgbClr val="B3B3B3"/>
              </a:solidFill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71500" y="4140200"/>
            <a:ext cx="8127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6A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Try the live app →</a:t>
            </a:r>
            <a:endParaRPr sz="1800">
              <a:solidFill>
                <a:srgbClr val="006AFF"/>
              </a:solidFill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571500" y="4787900"/>
            <a:ext cx="819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B3B3B3"/>
                </a:solidFill>
              </a:rPr>
              <a:t>Prototype: manual rides, local data, simulated social ranks.</a:t>
            </a:r>
            <a:endParaRPr sz="1100">
              <a:solidFill>
                <a:srgbClr val="B3B3B3"/>
              </a:solidFill>
            </a:endParaRPr>
          </a:p>
        </p:txBody>
      </p:sp>
      <p:pic>
        <p:nvPicPr>
          <p:cNvPr descr="Actual updated app after a manually logged PCMC to Civil Court ride:1journey,13.4estimatedkm,50XP. Schematic route,not GPS." id="105" name="Google Shape;105;p16" title="Actual updated MetroQuest Hom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0" y="1270000"/>
            <a:ext cx="5080000" cy="3527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533400" y="508000"/>
            <a:ext cx="8127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rgbClr val="FFFFFF"/>
                </a:solidFill>
              </a:rPr>
              <a:t>Start with a Pune pilot</a:t>
            </a:r>
            <a:endParaRPr sz="3500">
              <a:solidFill>
                <a:srgbClr val="FFFFFF"/>
              </a:solidFill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71500" y="1536700"/>
            <a:ext cx="4826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147FF"/>
                </a:solidFill>
              </a:rPr>
              <a:t>PROPOSED LAUNCH</a:t>
            </a:r>
            <a:endParaRPr b="1">
              <a:solidFill>
                <a:srgbClr val="9147FF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71500" y="2095500"/>
            <a:ext cx="48261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FFFFFF"/>
                </a:solidFill>
              </a:rPr>
              <a:t>Campus and office</a:t>
            </a:r>
            <a:endParaRPr sz="2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FFFFFF"/>
                </a:solidFill>
              </a:rPr>
              <a:t>commuters on Purple</a:t>
            </a:r>
            <a:endParaRPr sz="2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FFFFFF"/>
                </a:solidFill>
              </a:rPr>
              <a:t>and Aqua routes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71500" y="3733800"/>
            <a:ext cx="450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B3B3B3"/>
                </a:solidFill>
              </a:rPr>
              <a:t>Test repeat logging and</a:t>
            </a:r>
            <a:endParaRPr sz="2000">
              <a:solidFill>
                <a:srgbClr val="B3B3B3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B3B3B3"/>
                </a:solidFill>
              </a:rPr>
              <a:t>community participation.</a:t>
            </a:r>
            <a:endParaRPr sz="2000">
              <a:solidFill>
                <a:srgbClr val="B3B3B3"/>
              </a:solidFill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664200" y="1562100"/>
            <a:ext cx="31116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B857"/>
                </a:solidFill>
              </a:rPr>
              <a:t>Possible revenue</a:t>
            </a:r>
            <a:endParaRPr b="1" sz="2300">
              <a:solidFill>
                <a:srgbClr val="00B857"/>
              </a:solidFill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664200" y="2336800"/>
            <a:ext cx="29463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Employer commute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challenges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664200" y="3390900"/>
            <a:ext cx="29463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C6B0"/>
                </a:solidFill>
              </a:rPr>
              <a:t>Optional premium</a:t>
            </a:r>
            <a:endParaRPr sz="2100">
              <a:solidFill>
                <a:srgbClr val="FFC6B0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C6B0"/>
                </a:solidFill>
              </a:rPr>
              <a:t>passport</a:t>
            </a:r>
            <a:endParaRPr sz="2100">
              <a:solidFill>
                <a:srgbClr val="FFC6B0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71500" y="4686300"/>
            <a:ext cx="8127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B3B3B3"/>
                </a:solidFill>
              </a:rPr>
              <a:t>Ideas to validate through a Pune pilot.</a:t>
            </a:r>
            <a:endParaRPr sz="1200">
              <a:solidFill>
                <a:srgbClr val="B3B3B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/>
        </p:nvSpPr>
        <p:spPr>
          <a:xfrm>
            <a:off x="533400" y="787400"/>
            <a:ext cx="81279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FFFFFF"/>
                </a:solidFill>
              </a:rPr>
              <a:t>Try one ride.</a:t>
            </a:r>
            <a:endParaRPr sz="4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FFFFFF"/>
                </a:solidFill>
              </a:rPr>
              <a:t>Help shape the pilot.</a:t>
            </a:r>
            <a:endParaRPr sz="4400">
              <a:solidFill>
                <a:srgbClr val="FFFFFF"/>
              </a:solidFill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571500" y="3022600"/>
            <a:ext cx="6477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rgbClr val="00B857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the live demo →</a:t>
            </a:r>
            <a:endParaRPr b="1" sz="2900">
              <a:solidFill>
                <a:srgbClr val="00B857"/>
              </a:solidFill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571500" y="3822700"/>
            <a:ext cx="81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6AFF"/>
                </a:solidFill>
              </a:rPr>
              <a:t>roojool.github.io/pune-metro-strava</a:t>
            </a:r>
            <a:endParaRPr sz="1900">
              <a:solidFill>
                <a:srgbClr val="006AFF"/>
              </a:solidFill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571500" y="4533900"/>
            <a:ext cx="8127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C6B0"/>
                </a:solidFill>
              </a:rPr>
              <a:t>Seeking Pune campus and office pilot partners</a:t>
            </a:r>
            <a:endParaRPr sz="1700">
              <a:solidFill>
                <a:srgbClr val="FFC6B0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7581900" y="2667000"/>
            <a:ext cx="736500" cy="736500"/>
          </a:xfrm>
          <a:prstGeom prst="ellipse">
            <a:avLst/>
          </a:prstGeom>
          <a:solidFill>
            <a:srgbClr val="914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